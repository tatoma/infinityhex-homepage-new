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1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EMmOg1x0AfcFXoTjFUA2RfxLs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171F2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49808" y="932688"/>
            <a:ext cx="1143000" cy="50292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31520" y="123444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INFINITYHEX</a:t>
            </a:r>
            <a:endParaRPr b="1" i="0" sz="3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49808" y="187451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GAMES</a:t>
            </a:r>
            <a:endParaRPr b="1" i="0" sz="17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49808" y="278892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Publishing &amp; Localization Catalogue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68096" y="35661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5B9BF"/>
                </a:solidFill>
                <a:latin typeface="Arial"/>
                <a:ea typeface="Arial"/>
                <a:cs typeface="Arial"/>
                <a:sym typeface="Arial"/>
              </a:rPr>
              <a:t>SELECTED PORTFOLIO  •  2026</a:t>
            </a:r>
            <a:endParaRPr b="1" i="0" sz="1000" u="none" cap="none" strike="noStrike">
              <a:solidFill>
                <a:srgbClr val="B5B9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68096" y="4983480"/>
            <a:ext cx="6766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2D5D9"/>
                </a:solidFill>
                <a:latin typeface="Arial"/>
                <a:ea typeface="Arial"/>
                <a:cs typeface="Arial"/>
                <a:sym typeface="Arial"/>
              </a:rPr>
              <a:t>Original tabletop publishing and Chinese-language localization for distinctive games from around the world.</a:t>
            </a:r>
            <a:endParaRPr b="0" i="0" sz="1500" u="none" cap="none" strike="noStrike">
              <a:solidFill>
                <a:srgbClr val="D2D5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281160" y="52120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1" i="0" sz="31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658368"/>
            <a:ext cx="2240280" cy="197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58368" y="5029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About InfinityHex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58368" y="1078992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58368" y="1417320"/>
            <a:ext cx="5715000" cy="1045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We’re a team of passionate board game enthusiasts.</a:t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Founded in 2013, we began with murder mystery games and expanded into board game design in 2018.</a:t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58368" y="2788920"/>
            <a:ext cx="5715000" cy="1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Our work covers the full publishing cycle, including game design, localization, crowdfunding, production coordination, fulfillment, and long-term retail support.</a:t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Our mission is to craft great games and bring them to players worldwide.</a:t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903720" y="1097280"/>
            <a:ext cx="4526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6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178040" y="126187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ORIGINAL DEVELOPMENT</a:t>
            </a:r>
            <a:endParaRPr b="1" i="0" sz="9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178040" y="1554480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In-house game design and publishing experience from concept through delivery.</a:t>
            </a:r>
            <a:endParaRPr b="0" i="0" sz="125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903720" y="2578608"/>
            <a:ext cx="4526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6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178040" y="27432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LOCALIZATION</a:t>
            </a:r>
            <a:endParaRPr b="1" i="0" sz="9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178040" y="3035808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Chinese-language adaptation for narrative, strategy, campaign, and thematic games.</a:t>
            </a:r>
            <a:endParaRPr b="0" i="0" sz="125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903720" y="4059936"/>
            <a:ext cx="452628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6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178040" y="422452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MARKET LAUNCH</a:t>
            </a:r>
            <a:endParaRPr b="1" i="0" sz="9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178040" y="4517136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Crowdfunding-led launches supported by community building and retail distribution.</a:t>
            </a:r>
            <a:endParaRPr b="0" i="0" sz="125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85800" y="5943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Publishing Portfolio</a:t>
            </a: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704088" y="1261872"/>
            <a:ext cx="749807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1D6"/>
                </a:solidFill>
                <a:latin typeface="Arial"/>
                <a:ea typeface="Arial"/>
                <a:cs typeface="Arial"/>
                <a:sym typeface="Arial"/>
              </a:rPr>
              <a:t>A growing catalogue spanning delivered releases, projects in production, and signed upcoming campaigns.</a:t>
            </a:r>
            <a:endParaRPr b="0" i="0" sz="1500" u="none" cap="none" strike="noStrike">
              <a:solidFill>
                <a:srgbClr val="CDD1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85800" y="233172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1B2431"/>
          </a:solidFill>
          <a:ln cap="flat" cmpd="sng" w="9525">
            <a:solidFill>
              <a:srgbClr val="394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85800" y="2331720"/>
            <a:ext cx="73152" cy="2331720"/>
          </a:xfrm>
          <a:prstGeom prst="rect">
            <a:avLst/>
          </a:prstGeom>
          <a:solidFill>
            <a:srgbClr val="5076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60120" y="26517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60120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5 titles</a:t>
            </a:r>
            <a:endParaRPr b="1" i="0" sz="23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960120" y="38862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1C6CC"/>
                </a:solidFill>
                <a:latin typeface="Arial"/>
                <a:ea typeface="Arial"/>
                <a:cs typeface="Arial"/>
                <a:sym typeface="Arial"/>
              </a:rPr>
              <a:t>Games successfully crowdfunded, produced, and delivered.</a:t>
            </a:r>
            <a:endParaRPr b="0" i="0" sz="1150" u="none" cap="none" strike="noStrike">
              <a:solidFill>
                <a:srgbClr val="C1C6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480560" y="233172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1B2431"/>
          </a:solidFill>
          <a:ln cap="flat" cmpd="sng" w="9525">
            <a:solidFill>
              <a:srgbClr val="394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480560" y="2331720"/>
            <a:ext cx="73152" cy="2331720"/>
          </a:xfrm>
          <a:prstGeom prst="rect">
            <a:avLst/>
          </a:prstGeom>
          <a:solidFill>
            <a:srgbClr val="9D7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4754880" y="26517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CROWDFUNDED / IN PRODUCTION</a:t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754880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5 titles</a:t>
            </a:r>
            <a:endParaRPr b="1" i="0" sz="23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754880" y="38862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1C6CC"/>
                </a:solidFill>
                <a:latin typeface="Arial"/>
                <a:ea typeface="Arial"/>
                <a:cs typeface="Arial"/>
                <a:sym typeface="Arial"/>
              </a:rPr>
              <a:t>Campaigns completed and currently moving through production.</a:t>
            </a:r>
            <a:endParaRPr b="0" i="0" sz="1150" u="none" cap="none" strike="noStrike">
              <a:solidFill>
                <a:srgbClr val="C1C6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8275320" y="233172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1B2431"/>
          </a:solidFill>
          <a:ln cap="flat" cmpd="sng" w="9525">
            <a:solidFill>
              <a:srgbClr val="394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8275320" y="2331720"/>
            <a:ext cx="73152" cy="2331720"/>
          </a:xfrm>
          <a:prstGeom prst="rect">
            <a:avLst/>
          </a:prstGeom>
          <a:solidFill>
            <a:srgbClr val="4A65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549640" y="26517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SIGNED / UPCOMING CAMPAIGNS</a:t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549640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2 titles</a:t>
            </a:r>
            <a:endParaRPr b="1" i="0" sz="23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549640" y="38862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C1C6CC"/>
                </a:solidFill>
                <a:latin typeface="Arial"/>
                <a:ea typeface="Arial"/>
                <a:cs typeface="Arial"/>
                <a:sym typeface="Arial"/>
              </a:rPr>
              <a:t>Localization agreements signed, with campaigns still ahead.</a:t>
            </a:r>
            <a:endParaRPr b="0" i="0" sz="1150" u="none" cap="none" strike="noStrike">
              <a:solidFill>
                <a:srgbClr val="C1C6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13232" y="5715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BB0B7"/>
                </a:solidFill>
                <a:latin typeface="Arial"/>
                <a:ea typeface="Arial"/>
                <a:cs typeface="Arial"/>
                <a:sym typeface="Arial"/>
              </a:rPr>
              <a:t>Plus original titles in active development.</a:t>
            </a:r>
            <a:endParaRPr b="0" i="0" sz="1100" u="none" cap="none" strike="noStrike">
              <a:solidFill>
                <a:srgbClr val="ABB0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PORTFOLIO OVERVIEW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1054715" y="6419088"/>
            <a:ext cx="50292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140" name="Google Shape;1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85800" y="7772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34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874519" y="804672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29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901952" y="150876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Projects that have completed crowdfunding, production, and fulfillment.</a:t>
            </a:r>
            <a:endParaRPr b="0" i="0" sz="150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901952" y="2212848"/>
            <a:ext cx="114300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901952" y="2743200"/>
            <a:ext cx="7223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This section includes both localized international titles and InfinityHex original publishing.</a:t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1064240" y="6419088"/>
            <a:ext cx="50292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9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13232" y="658368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Original Game Development</a:t>
            </a: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731520" y="1389888"/>
            <a:ext cx="7406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FD3D8"/>
                </a:solidFill>
                <a:latin typeface="Arial"/>
                <a:ea typeface="Arial"/>
                <a:cs typeface="Arial"/>
                <a:sym typeface="Arial"/>
              </a:rPr>
              <a:t>InfinityHex was founded around original tabletop design, and we continue to develop our own games alongside our localization portfolio.</a:t>
            </a:r>
            <a:endParaRPr b="0" i="0" sz="1600" u="none" cap="none" strike="noStrike">
              <a:solidFill>
                <a:srgbClr val="CFD3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586239" y="5138163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Netherworld Candle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586253" y="5549115"/>
            <a:ext cx="320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Designed by CEO Andy Eyre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586253" y="5806178"/>
            <a:ext cx="35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DD1D6"/>
                </a:solidFill>
                <a:latin typeface="Arial"/>
                <a:ea typeface="Arial"/>
                <a:cs typeface="Arial"/>
                <a:sym typeface="Arial"/>
              </a:rPr>
              <a:t>Successfully crowdfunded, produced, and delivered.</a:t>
            </a:r>
            <a:endParaRPr b="0" i="0" sz="1300" u="none" cap="none" strike="noStrike">
              <a:solidFill>
                <a:srgbClr val="CDD1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818120" y="2743200"/>
            <a:ext cx="2880360" cy="2423160"/>
          </a:xfrm>
          <a:prstGeom prst="roundRect">
            <a:avLst>
              <a:gd fmla="val 16667" name="adj"/>
            </a:avLst>
          </a:prstGeom>
          <a:solidFill>
            <a:srgbClr val="1219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7818120" y="539496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倩女游魂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818120" y="576072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7BCC3"/>
                </a:solidFill>
                <a:latin typeface="Arial"/>
                <a:ea typeface="Arial"/>
                <a:cs typeface="Arial"/>
                <a:sym typeface="Arial"/>
              </a:rPr>
              <a:t>In development • Designed by Andy Eyre</a:t>
            </a:r>
            <a:endParaRPr b="0" i="0" sz="950" u="none" cap="none" strike="noStrike">
              <a:solidFill>
                <a:srgbClr val="B7BC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ORIGINAL DEVELOPMENT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1064240" y="6419088"/>
            <a:ext cx="50292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169" name="Google Shape;1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8275" y="2835384"/>
            <a:ext cx="2880351" cy="230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525" y="2024462"/>
            <a:ext cx="5001351" cy="2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892040" y="713232"/>
            <a:ext cx="1874519" cy="301752"/>
          </a:xfrm>
          <a:prstGeom prst="roundRect">
            <a:avLst>
              <a:gd fmla="val 16667" name="adj"/>
            </a:avLst>
          </a:prstGeom>
          <a:solidFill>
            <a:srgbClr val="5076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5001768" y="749808"/>
            <a:ext cx="16550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6931152" y="7589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ORIGINAL</a:t>
            </a:r>
            <a:endParaRPr b="1" i="0" sz="85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4892040" y="1325880"/>
            <a:ext cx="6172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Netherworld Candle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4910328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ORIGINAL THEMATIC BOARD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910328" y="2761488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4910328" y="3154680"/>
            <a:ext cx="5989320" cy="1723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An InfinityHex original designed by CEO Andy Eyre. Successfully crowdfunded, produced, and delivered.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Netherworld Candle is a cooperative, story-driven campaign adventure set in late 19th-century China, combining historical events, ancient mythology, supernatural horror, exploration, puzzle-solving, tactical combat, and a branching narrative.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4910328" y="54132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Chinese publishing / localization portfolio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11064240" y="6419088"/>
            <a:ext cx="50292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50" y="556608"/>
            <a:ext cx="4114800" cy="5514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892040" y="713232"/>
            <a:ext cx="1874519" cy="301752"/>
          </a:xfrm>
          <a:prstGeom prst="roundRect">
            <a:avLst>
              <a:gd fmla="val 16667" name="adj"/>
            </a:avLst>
          </a:prstGeom>
          <a:solidFill>
            <a:srgbClr val="5076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5001768" y="749808"/>
            <a:ext cx="16550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931152" y="7589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LOCALIZED TITLE</a:t>
            </a:r>
            <a:endParaRPr b="1" i="0" sz="85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4892040" y="1325880"/>
            <a:ext cx="6172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Agemonia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4910328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COOPERATIVE NARRATIVE CAMPAIGN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910328" y="2761488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4910328" y="3154680"/>
            <a:ext cx="5989320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cooperative, story-driven fantasy campaign game combining tactical scenarios, exploration, character development, and a branching narrative.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4910328" y="54132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Chinese publishing / localization portfolio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1064240" y="6419088"/>
            <a:ext cx="50292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350" y="310900"/>
            <a:ext cx="3815599" cy="33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338" y="3635526"/>
            <a:ext cx="3815601" cy="2543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892040" y="713232"/>
            <a:ext cx="1874519" cy="301752"/>
          </a:xfrm>
          <a:prstGeom prst="roundRect">
            <a:avLst>
              <a:gd fmla="val 16667" name="adj"/>
            </a:avLst>
          </a:prstGeom>
          <a:solidFill>
            <a:srgbClr val="5076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5001768" y="749808"/>
            <a:ext cx="16550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6931152" y="7589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LOCALIZED TITLE</a:t>
            </a:r>
            <a:endParaRPr b="1" i="0" sz="85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4892040" y="1325880"/>
            <a:ext cx="6172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Legacy of Eastbrook Hills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4910328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NARRATIVE DETECTIVE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910328" y="2761488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4910328" y="3154680"/>
            <a:ext cx="5989320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cooperative dark detective and narrative game in which players investigate supernatural mysteries in a decaying mining town across five connected episodes.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4910328" y="54132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Chinese publishing / localization portfolio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11064240" y="6419088"/>
            <a:ext cx="50292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850" y="310900"/>
            <a:ext cx="4190101" cy="580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892040" y="713232"/>
            <a:ext cx="1874519" cy="301752"/>
          </a:xfrm>
          <a:prstGeom prst="roundRect">
            <a:avLst>
              <a:gd fmla="val 16667" name="adj"/>
            </a:avLst>
          </a:prstGeom>
          <a:solidFill>
            <a:srgbClr val="5076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5001768" y="749808"/>
            <a:ext cx="16550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6931152" y="7589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LOCALIZED TITLE</a:t>
            </a:r>
            <a:endParaRPr b="1" i="0" sz="85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4892040" y="1325880"/>
            <a:ext cx="6172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Al-Kahuf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4910328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NARRATIVE DETECTIVE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910328" y="2761488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4910328" y="3154680"/>
            <a:ext cx="5989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An investigation-focused narrative game centered on mystery solving, discovery, and piecing together a larger story.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4910328" y="54132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Chinese publishing / localization portfolio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11064240" y="6419088"/>
            <a:ext cx="50292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550" y="960125"/>
            <a:ext cx="43434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892040" y="713232"/>
            <a:ext cx="1874519" cy="301752"/>
          </a:xfrm>
          <a:prstGeom prst="roundRect">
            <a:avLst>
              <a:gd fmla="val 16667" name="adj"/>
            </a:avLst>
          </a:prstGeom>
          <a:solidFill>
            <a:srgbClr val="5076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5001768" y="749808"/>
            <a:ext cx="16550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6931152" y="7589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LOCALIZED TITLE</a:t>
            </a:r>
            <a:endParaRPr b="1" i="0" sz="85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4892040" y="1325880"/>
            <a:ext cx="6172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Quiet Bell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4910328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LOVECRAFTIAN ADVENTURE DETECTIVE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910328" y="2761488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4910328" y="3154680"/>
            <a:ext cx="5989320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Lovecraftian adventure detective game featuring an interactive branching narrative, nonlinear character interactions, and a unique transparent-card investigation mechanic.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4910328" y="54132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Chinese publishing / localization portfolio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PUBLISHED &amp; DELIVERED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11064240" y="6419088"/>
            <a:ext cx="502920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261" name="Google Shape;2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150" y="310901"/>
            <a:ext cx="4047726" cy="30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150" y="3346701"/>
            <a:ext cx="4047726" cy="303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685800" y="7772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34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1874519" y="804672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Upcoming</a:t>
            </a:r>
            <a:endParaRPr b="1" i="0" sz="29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1901952" y="150876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Projects already secured for the InfinityHex portfolio and moving toward future release.</a:t>
            </a:r>
            <a:endParaRPr b="0" i="0" sz="150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901952" y="2212848"/>
            <a:ext cx="114300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1901952" y="27889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D7137"/>
                </a:solidFill>
                <a:latin typeface="Arial"/>
                <a:ea typeface="Arial"/>
                <a:cs typeface="Arial"/>
                <a:sym typeface="Arial"/>
              </a:rPr>
              <a:t>Crowdfunded / In Production</a:t>
            </a:r>
            <a:endParaRPr b="1" i="0" sz="1700" u="none" cap="none" strike="noStrike">
              <a:solidFill>
                <a:srgbClr val="9D71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1901952" y="32735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5 titles</a:t>
            </a:r>
            <a:endParaRPr b="0" i="0" sz="130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6492240" y="27889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A6582"/>
                </a:solidFill>
                <a:latin typeface="Arial"/>
                <a:ea typeface="Arial"/>
                <a:cs typeface="Arial"/>
                <a:sym typeface="Arial"/>
              </a:rPr>
              <a:t>Signed / Upcoming Campaigns</a:t>
            </a:r>
            <a:endParaRPr b="1" i="0" sz="1700" u="none" cap="none" strike="noStrike">
              <a:solidFill>
                <a:srgbClr val="4A65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6492240" y="32735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2 titles</a:t>
            </a:r>
            <a:endParaRPr b="0" i="0" sz="130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279" name="Google Shape;2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892040" y="713232"/>
            <a:ext cx="2423160" cy="301752"/>
          </a:xfrm>
          <a:prstGeom prst="roundRect">
            <a:avLst>
              <a:gd fmla="val 16667" name="adj"/>
            </a:avLst>
          </a:prstGeom>
          <a:solidFill>
            <a:srgbClr val="9D7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5001768" y="7498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CROWDFUNDED / IN PRODUCTION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4892040" y="1325880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Rewild: South America</a:t>
            </a:r>
            <a:endParaRPr b="1" i="0" sz="25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4910328" y="2487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ENGINE-BUILDING STRATEGY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910328" y="2907792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4910328" y="3310128"/>
            <a:ext cx="5989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card-driven strategy game focused on restoring and developing the diverse ecosystems of South America.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4910328" y="54132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Chinese publishing / localization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• IN PRODUCTION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295" name="Google Shape;2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350" y="1260525"/>
            <a:ext cx="4286600" cy="428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892040" y="713232"/>
            <a:ext cx="2423160" cy="301752"/>
          </a:xfrm>
          <a:prstGeom prst="roundRect">
            <a:avLst>
              <a:gd fmla="val 16667" name="adj"/>
            </a:avLst>
          </a:prstGeom>
          <a:solidFill>
            <a:srgbClr val="9D7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5001768" y="7498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CROWDFUNDED / IN PRODUCTION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4892040" y="1325880"/>
            <a:ext cx="621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Pirates of the High Teas</a:t>
            </a:r>
            <a:endParaRPr b="1" i="0" sz="25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4910328" y="2487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WHIMSICAL STRATEGY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910328" y="2907792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4910328" y="3310128"/>
            <a:ext cx="5989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playful strategy game of pirate tea parties, smuggling, pastries, and food fights in a highly distinctive setting.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4910328" y="54132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Chinese publishing / localization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• IN PRODUCTION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312" name="Google Shape;3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550" y="713225"/>
            <a:ext cx="4182974" cy="52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892040" y="713232"/>
            <a:ext cx="2423160" cy="301752"/>
          </a:xfrm>
          <a:prstGeom prst="roundRect">
            <a:avLst>
              <a:gd fmla="val 16667" name="adj"/>
            </a:avLst>
          </a:prstGeom>
          <a:solidFill>
            <a:srgbClr val="9D7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5001768" y="7498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CROWDFUNDED / IN PRODUCTION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4892040" y="1325880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Chroma Arcana</a:t>
            </a:r>
            <a:endParaRPr b="1" i="0" sz="25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4910328" y="2487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TACTICAL FANTASY CARD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910328" y="2907792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4910328" y="3310128"/>
            <a:ext cx="5989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fantasy card game centered on dueling mages, with competitive battles and cooperative challenges against powerful enemies.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4910328" y="54132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Chinese publishing / localization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• IN PRODUCTION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329" name="Google Shape;3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323" y="1014975"/>
            <a:ext cx="44667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892040" y="713232"/>
            <a:ext cx="2423160" cy="301752"/>
          </a:xfrm>
          <a:prstGeom prst="roundRect">
            <a:avLst>
              <a:gd fmla="val 16667" name="adj"/>
            </a:avLst>
          </a:prstGeom>
          <a:solidFill>
            <a:srgbClr val="9D7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5001768" y="7498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CROWDFUNDED / IN PRODUCTION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4892040" y="1325880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Boktor</a:t>
            </a:r>
            <a:endParaRPr b="1" i="0" sz="25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 txBox="1"/>
          <p:nvPr/>
        </p:nvSpPr>
        <p:spPr>
          <a:xfrm>
            <a:off x="4910328" y="2487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FANTASY ADVENTURE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910328" y="2907792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4910328" y="3310128"/>
            <a:ext cx="5989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fantasy adventure title built around exploration, encounters, and character-driven play in a distinctive world.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4910328" y="54132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Chinese publishing / localization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• IN PRODUCTION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346" name="Google Shape;3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5" title="IMG_2741(20260813-142607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675" y="310900"/>
            <a:ext cx="3132800" cy="6031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4892040" y="713232"/>
            <a:ext cx="2423160" cy="301752"/>
          </a:xfrm>
          <a:prstGeom prst="roundRect">
            <a:avLst>
              <a:gd fmla="val 16667" name="adj"/>
            </a:avLst>
          </a:prstGeom>
          <a:solidFill>
            <a:srgbClr val="9D7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 txBox="1"/>
          <p:nvPr/>
        </p:nvSpPr>
        <p:spPr>
          <a:xfrm>
            <a:off x="5001768" y="7498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CROWDFUNDED / IN PRODUCTION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4892040" y="1325880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The Dawn of Pangaea</a:t>
            </a:r>
            <a:endParaRPr b="1" i="0" sz="25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4910328" y="2487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TILE-LAYING &amp; ENGINE-BUILDING STRATEGY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4910328" y="2907792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 txBox="1"/>
          <p:nvPr/>
        </p:nvSpPr>
        <p:spPr>
          <a:xfrm>
            <a:off x="4910328" y="3310128"/>
            <a:ext cx="5989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strategic game about shaping Pangaea’s landscapes and ecosystems through tile placement and engine building.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4910328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4910328" y="54132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Chinese publishing / localization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• IN PRODUCTION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363" name="Google Shape;3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675" y="1271437"/>
            <a:ext cx="4315151" cy="4315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4892040" y="713232"/>
            <a:ext cx="2331720" cy="301752"/>
          </a:xfrm>
          <a:prstGeom prst="roundRect">
            <a:avLst>
              <a:gd fmla="val 16667" name="adj"/>
            </a:avLst>
          </a:prstGeom>
          <a:solidFill>
            <a:srgbClr val="4A65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 txBox="1"/>
          <p:nvPr/>
        </p:nvSpPr>
        <p:spPr>
          <a:xfrm>
            <a:off x="5001768" y="749808"/>
            <a:ext cx="21122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SIGNED / UPCOMING CAMPAIGN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7"/>
          <p:cNvSpPr txBox="1"/>
          <p:nvPr/>
        </p:nvSpPr>
        <p:spPr>
          <a:xfrm>
            <a:off x="4892040" y="132588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S.H.E.O.L. 2.0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7"/>
          <p:cNvSpPr txBox="1"/>
          <p:nvPr/>
        </p:nvSpPr>
        <p:spPr>
          <a:xfrm>
            <a:off x="4910328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COOPERATIVE SCI-FI CAMPAIGN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4910328" y="2761488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 txBox="1"/>
          <p:nvPr/>
        </p:nvSpPr>
        <p:spPr>
          <a:xfrm>
            <a:off x="4910328" y="3154680"/>
            <a:ext cx="5989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dark science-fiction campaign experience built around tactical combat, exploration, progression, and humanity’s fight for survival.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7"/>
          <p:cNvSpPr txBox="1"/>
          <p:nvPr/>
        </p:nvSpPr>
        <p:spPr>
          <a:xfrm>
            <a:off x="4910328" y="5074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Localization agreement signed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7"/>
          <p:cNvSpPr txBox="1"/>
          <p:nvPr/>
        </p:nvSpPr>
        <p:spPr>
          <a:xfrm>
            <a:off x="4910328" y="54132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Campaign and release to follow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• SIGNED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380" name="Google Shape;3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50" y="1014975"/>
            <a:ext cx="4621824" cy="434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4892040" y="713232"/>
            <a:ext cx="2331720" cy="301752"/>
          </a:xfrm>
          <a:prstGeom prst="roundRect">
            <a:avLst>
              <a:gd fmla="val 16667" name="adj"/>
            </a:avLst>
          </a:prstGeom>
          <a:solidFill>
            <a:srgbClr val="4A65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 txBox="1"/>
          <p:nvPr/>
        </p:nvSpPr>
        <p:spPr>
          <a:xfrm>
            <a:off x="5001768" y="749808"/>
            <a:ext cx="21122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SIGNED / UPCOMING CAMPAIGN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4892040" y="132588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Epochs: Course of Cultures</a:t>
            </a:r>
            <a:endParaRPr b="1" i="0" sz="2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"/>
          <p:cNvSpPr txBox="1"/>
          <p:nvPr/>
        </p:nvSpPr>
        <p:spPr>
          <a:xfrm>
            <a:off x="4910328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CIVILIZATION STRATEGY GAME</a:t>
            </a:r>
            <a:endParaRPr b="1" i="0" sz="9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4910328" y="2761488"/>
            <a:ext cx="96012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 txBox="1"/>
          <p:nvPr/>
        </p:nvSpPr>
        <p:spPr>
          <a:xfrm>
            <a:off x="4910328" y="3154680"/>
            <a:ext cx="5989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A civilization strategy game spanning multiple eras through expansion, research, trade, government, warfare, and technological development.</a:t>
            </a:r>
            <a:endParaRPr b="0" i="0" sz="16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8"/>
          <p:cNvSpPr txBox="1"/>
          <p:nvPr/>
        </p:nvSpPr>
        <p:spPr>
          <a:xfrm>
            <a:off x="4910328" y="5074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Localization agreement signed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8"/>
          <p:cNvSpPr txBox="1"/>
          <p:nvPr/>
        </p:nvSpPr>
        <p:spPr>
          <a:xfrm>
            <a:off x="4910328" y="54132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Campaign and release to follow</a:t>
            </a:r>
            <a:endParaRPr b="0" i="0" sz="10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UPCOMING • SIGNED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397" name="Google Shape;3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00" y="1261463"/>
            <a:ext cx="4335075" cy="43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713232" y="5943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Selection to Delivery</a:t>
            </a:r>
            <a:endParaRPr b="1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731520" y="13258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0D6"/>
                </a:solidFill>
                <a:latin typeface="Arial"/>
                <a:ea typeface="Arial"/>
                <a:cs typeface="Arial"/>
                <a:sym typeface="Arial"/>
              </a:rPr>
              <a:t>Our publishing workflow is built to support international partners throughout the full localization lifecycle.</a:t>
            </a:r>
            <a:endParaRPr b="0" i="0" sz="1500" u="none" cap="none" strike="noStrike">
              <a:solidFill>
                <a:srgbClr val="CBD0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685800" y="27432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12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685800" y="3218688"/>
            <a:ext cx="1417320" cy="27432"/>
          </a:xfrm>
          <a:prstGeom prst="rect">
            <a:avLst/>
          </a:prstGeom>
          <a:solidFill>
            <a:srgbClr val="4952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685800" y="35204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9"/>
          <p:cNvSpPr txBox="1"/>
          <p:nvPr/>
        </p:nvSpPr>
        <p:spPr>
          <a:xfrm>
            <a:off x="2441448" y="315468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666F7B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300" u="none" cap="none" strike="noStrike">
              <a:solidFill>
                <a:srgbClr val="666F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2944368" y="27432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2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2944368" y="3218688"/>
            <a:ext cx="1417320" cy="27432"/>
          </a:xfrm>
          <a:prstGeom prst="rect">
            <a:avLst/>
          </a:prstGeom>
          <a:solidFill>
            <a:srgbClr val="4952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2944368" y="35204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LOCALIZATION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EDITING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4700016" y="315468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666F7B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300" u="none" cap="none" strike="noStrike">
              <a:solidFill>
                <a:srgbClr val="666F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5202936" y="27432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12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5202936" y="3218688"/>
            <a:ext cx="1417320" cy="27432"/>
          </a:xfrm>
          <a:prstGeom prst="rect">
            <a:avLst/>
          </a:prstGeom>
          <a:solidFill>
            <a:srgbClr val="4952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5202936" y="35204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CROWDFUNDING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LAUNCH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 txBox="1"/>
          <p:nvPr/>
        </p:nvSpPr>
        <p:spPr>
          <a:xfrm>
            <a:off x="6958584" y="315468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666F7B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300" u="none" cap="none" strike="noStrike">
              <a:solidFill>
                <a:srgbClr val="666F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 txBox="1"/>
          <p:nvPr/>
        </p:nvSpPr>
        <p:spPr>
          <a:xfrm>
            <a:off x="7461504" y="27432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12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7461504" y="3218688"/>
            <a:ext cx="1417320" cy="27432"/>
          </a:xfrm>
          <a:prstGeom prst="rect">
            <a:avLst/>
          </a:prstGeom>
          <a:solidFill>
            <a:srgbClr val="4952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 txBox="1"/>
          <p:nvPr/>
        </p:nvSpPr>
        <p:spPr>
          <a:xfrm>
            <a:off x="7461504" y="35204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COORDINATION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9"/>
          <p:cNvSpPr txBox="1"/>
          <p:nvPr/>
        </p:nvSpPr>
        <p:spPr>
          <a:xfrm>
            <a:off x="9217152" y="315468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666F7B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300" u="none" cap="none" strike="noStrike">
              <a:solidFill>
                <a:srgbClr val="666F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 txBox="1"/>
          <p:nvPr/>
        </p:nvSpPr>
        <p:spPr>
          <a:xfrm>
            <a:off x="9720072" y="27432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12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9720072" y="3218688"/>
            <a:ext cx="1417320" cy="27432"/>
          </a:xfrm>
          <a:prstGeom prst="rect">
            <a:avLst/>
          </a:prstGeom>
          <a:solidFill>
            <a:srgbClr val="4952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 txBox="1"/>
          <p:nvPr/>
        </p:nvSpPr>
        <p:spPr>
          <a:xfrm>
            <a:off x="9720072" y="35204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FULFILLMENT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RETAIL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9"/>
          <p:cNvSpPr txBox="1"/>
          <p:nvPr/>
        </p:nvSpPr>
        <p:spPr>
          <a:xfrm>
            <a:off x="731520" y="56235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FB5BC"/>
                </a:solidFill>
                <a:latin typeface="Arial"/>
                <a:ea typeface="Arial"/>
                <a:cs typeface="Arial"/>
                <a:sym typeface="Arial"/>
              </a:rPr>
              <a:t>A portfolio built through both original publishing experience and international partnerships.</a:t>
            </a:r>
            <a:endParaRPr b="0" i="0" sz="1200" u="none" cap="none" strike="noStrike">
              <a:solidFill>
                <a:srgbClr val="AFB5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PUBLISHING WORKFLOW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9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428" name="Google Shape;4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713232" y="868680"/>
            <a:ext cx="1143000" cy="22860"/>
          </a:xfrm>
          <a:prstGeom prst="rect">
            <a:avLst/>
          </a:prstGeom>
          <a:solidFill>
            <a:srgbClr val="B289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 txBox="1"/>
          <p:nvPr/>
        </p:nvSpPr>
        <p:spPr>
          <a:xfrm>
            <a:off x="694944" y="12344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Let’s work together.</a:t>
            </a:r>
            <a:endParaRPr b="1" i="0" sz="31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0"/>
          <p:cNvSpPr txBox="1"/>
          <p:nvPr/>
        </p:nvSpPr>
        <p:spPr>
          <a:xfrm>
            <a:off x="713232" y="214884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329"/>
                </a:solidFill>
                <a:latin typeface="Arial"/>
                <a:ea typeface="Arial"/>
                <a:cs typeface="Arial"/>
                <a:sym typeface="Arial"/>
              </a:rPr>
              <a:t>We are interested in distinctive tabletop games with strong themes, thoughtful design, and the potential to connect with Chinese-speaking players.</a:t>
            </a:r>
            <a:endParaRPr b="0" i="0" sz="1700" u="none" cap="none" strike="noStrike">
              <a:solidFill>
                <a:srgbClr val="1F23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8001000" y="1005840"/>
            <a:ext cx="3337560" cy="4480560"/>
          </a:xfrm>
          <a:prstGeom prst="roundRect">
            <a:avLst>
              <a:gd fmla="val 16667" name="adj"/>
            </a:avLst>
          </a:prstGeom>
          <a:solidFill>
            <a:srgbClr val="1219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 txBox="1"/>
          <p:nvPr/>
        </p:nvSpPr>
        <p:spPr>
          <a:xfrm>
            <a:off x="8366760" y="14813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2894F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1" i="0" sz="1000" u="none" cap="none" strike="noStrike">
              <a:solidFill>
                <a:srgbClr val="B28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8366760" y="21031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Nana Wang</a:t>
            </a:r>
            <a:endParaRPr b="1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8366760" y="25786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D0D5"/>
                </a:solidFill>
                <a:latin typeface="Arial"/>
                <a:ea typeface="Arial"/>
                <a:cs typeface="Arial"/>
                <a:sym typeface="Arial"/>
              </a:rPr>
              <a:t>Business Representative</a:t>
            </a:r>
            <a:endParaRPr b="0" i="0" sz="1100" u="none" cap="none" strike="noStrike">
              <a:solidFill>
                <a:srgbClr val="CCD0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8366760" y="2971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InfinityHex Games</a:t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8366760" y="3703320"/>
            <a:ext cx="914400" cy="22860"/>
          </a:xfrm>
          <a:prstGeom prst="rect">
            <a:avLst/>
          </a:prstGeom>
          <a:solidFill>
            <a:srgbClr val="4952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 txBox="1"/>
          <p:nvPr/>
        </p:nvSpPr>
        <p:spPr>
          <a:xfrm>
            <a:off x="8366760" y="4069080"/>
            <a:ext cx="2377440" cy="168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7ADB5"/>
                </a:solidFill>
                <a:latin typeface="Arial"/>
                <a:ea typeface="Arial"/>
                <a:cs typeface="Arial"/>
                <a:sym typeface="Arial"/>
              </a:rPr>
              <a:t>Email: nana.wang@infinityhex.com</a:t>
            </a:r>
            <a:endParaRPr b="0" i="0" sz="1100" u="none" cap="none" strike="noStrike">
              <a:solidFill>
                <a:srgbClr val="A7ADB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8366760" y="4462272"/>
            <a:ext cx="2377440" cy="168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7ADB5"/>
                </a:solidFill>
                <a:latin typeface="Arial"/>
                <a:ea typeface="Arial"/>
                <a:cs typeface="Arial"/>
                <a:sym typeface="Arial"/>
              </a:rPr>
              <a:t>Web: www.infinityhex.com</a:t>
            </a:r>
            <a:endParaRPr b="0" i="0" sz="1100" u="none" cap="none" strike="noStrike">
              <a:solidFill>
                <a:srgbClr val="A7ADB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713232" y="5989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Publishing &amp; Localization Catalogue 2026</a:t>
            </a:r>
            <a:endParaRPr b="1" i="0" sz="90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1" i="0" sz="7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1106424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4747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1" i="0" sz="850" u="none" cap="none" strike="noStrike">
              <a:solidFill>
                <a:srgbClr val="747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次元枢纽LOGO英文infinityhex@2x.png" id="448" name="Google Shape;4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310896"/>
            <a:ext cx="1078992" cy="949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0788D90266614168B6809B7FA1ECDB2D_13</vt:lpwstr>
  </property>
  <property fmtid="{D5CDD505-2E9C-101B-9397-08002B2CF9AE}" pid="3" name="KSOProductBuildVer">
    <vt:lpwstr>1033-12.1.0.28032</vt:lpwstr>
  </property>
</Properties>
</file>